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Openingszin: 'Vier soorten klanten, één website.' De hele demo is die zin, bewezen.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de kern. Als de klant het in eigen woorden anders formuleert, is die formulering beter — neem hem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Ads + Publishers (advertentie-net) alleen tonen als het gesprek erom vraagt.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Toon eerst de baseline (default), dan per persona verversen. Sluit af met de holdout: het meetbaarheids-argument.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3840480" cy="3840480"/>
          </a:xfrm>
          <a:prstGeom prst="ellipse">
            <a:avLst/>
          </a:prstGeom>
          <a:solidFill>
            <a:srgbClr val="0FA3A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640080"/>
            <a:ext cx="2743200" cy="2743200"/>
          </a:xfrm>
          <a:prstGeom prst="ellipse">
            <a:avLst/>
          </a:prstGeom>
          <a:solidFill>
            <a:srgbClr val="17C3B2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CONTEXTUELE PERSONALISATIE · MULTI-TENANT SaaS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Mister Chameleon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website die zich per bezoeker gedraagt — en meet of dat uitmaakt.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Platformdemo · dev-tenant mister-chameleon · augustus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Aanleiding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dit probleem nu geld kost — en nu pas op te lossen 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67128"/>
            <a:ext cx="512064" cy="512064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Gericht adverteren, generieke landing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23500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weet steeds preciezer wie je aanspreekt in de advertentie. Maar iedereen belandt op dezelfde pagina met hetzelfde verhaal in dezelfde volgorde.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630168"/>
            <a:ext cx="512064" cy="512064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30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3429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beslissing valt op de pagina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91640" y="381304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Juist op het moment dat de bezoeker beslist, sluit de boodschap niet aan op wie hij is. Dat verlies zie je niet — het staat nergens gelogd.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093208"/>
            <a:ext cx="512064" cy="512064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93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4892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Aparte landingspagina's verzanden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527608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klassieke oplossing — losse landingspagina's per doelgroep — wordt niet onderhouden en groeit uit de hand.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probleem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“Vier soorten klanten, en één website.”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Navertelbaar aan een directeur, zonder ons vocabulaire.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Inkoper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37560" y="365760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Sollicitant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0" y="365760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Bekende klant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66760" y="365760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6676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Campagne-bezoeker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5074920"/>
            <a:ext cx="3566160" cy="822960"/>
          </a:xfrm>
          <a:prstGeom prst="roundRect">
            <a:avLst>
              <a:gd name="adj" fmla="val 11111"/>
            </a:avLst>
          </a:prstGeom>
          <a:solidFill>
            <a:srgbClr val="0FA3A3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5074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dezelfde pagina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6080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inkoper leest eerst wat de sollicitant zou moeten lezen. Dat kost geld op de plek waar de beslissing valt.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Waarom het nu kan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nieuwe website, geen los onderhoud, en — beslissend — meetbaar.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Geen nieuwe site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4747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Één script-tag in de &lt;head&gt; maakt de bestaande site adaptief. Zelfde CMS, andere volgorde per bezoeker.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16552" y="182880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2148840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473659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36592" y="2880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Geen losse pagina's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36592" y="34747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Varianten leven in het platform, niet in vergeten landingspagina's. Onderhoud op één plek.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193024" y="182880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E4F5F1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13064" y="2148840"/>
            <a:ext cx="548640" cy="54864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6" name="Text 14"/>
          <p:cNvSpPr/>
          <p:nvPr/>
        </p:nvSpPr>
        <p:spPr>
          <a:xfrm>
            <a:off x="851306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13064" y="2880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Meetbaar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13064" y="34747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deel van de bezoekers krijgt bewust de oude versie (holdout), zodat je ziet of het uitmaakt.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laatste overtuigt een directeur — niet de personalisatie, maar dat het meetbaar is.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Ons antwoord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Contextuele personalisatie met een server-side beslissing en een veilige default.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33272"/>
          </a:xfrm>
          <a:prstGeom prst="roundRect">
            <a:avLst>
              <a:gd name="adj" fmla="val 796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475488" cy="47548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92938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beslissing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892808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keuze valt op de server, niet met knipperende client-scripts. De pagina springt niet en valt nooit leeg.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10881360" cy="1033272"/>
          </a:xfrm>
          <a:prstGeom prst="roundRect">
            <a:avLst>
              <a:gd name="adj" fmla="val 796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227832"/>
            <a:ext cx="475488" cy="47548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27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30998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Veilige default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306324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signaal of bij een storing krijgt de bezoeker gewoon de CMS-content. Stoppen = een storing, en die eindigt veilig.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23944"/>
            <a:ext cx="10881360" cy="1033272"/>
          </a:xfrm>
          <a:prstGeom prst="roundRect">
            <a:avLst>
              <a:gd name="adj" fmla="val 796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398264"/>
            <a:ext cx="475488" cy="47548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98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42702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Meten ingebouwd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4233672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Holdout, score-verdeling en regel-vuringen laten zien of de invoer onderscheidt én of de regels iets doen.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294376"/>
            <a:ext cx="10881360" cy="1033272"/>
          </a:xfrm>
          <a:prstGeom prst="roundRect">
            <a:avLst>
              <a:gd name="adj" fmla="val 796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568696"/>
            <a:ext cx="475488" cy="47548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568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45920" y="5440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als onderscheid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5404104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Verrijking is consent-gated en de data staat in de EER (Ierland). Dat is het verschil met de Amerikaanse platformen.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 het werkt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Één keten, per paginaweergave: bezoeker → context → beslissing → variant → meten.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2057400" cy="2468880"/>
          </a:xfrm>
          <a:prstGeom prst="roundRect">
            <a:avLst>
              <a:gd name="adj" fmla="val 4000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1308" y="2560320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1321308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Bezoeker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Gedrag, tijd, herkomst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32004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88920" y="2286000"/>
            <a:ext cx="2057400" cy="2468880"/>
          </a:xfrm>
          <a:prstGeom prst="roundRect">
            <a:avLst>
              <a:gd name="adj" fmla="val 4000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3300" y="2560320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2" name="Text 10"/>
          <p:cNvSpPr/>
          <p:nvPr/>
        </p:nvSpPr>
        <p:spPr>
          <a:xfrm>
            <a:off x="35433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0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53512" y="3703320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segment, verrijking (consent)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32004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10912" y="2286000"/>
            <a:ext cx="2057400" cy="2468880"/>
          </a:xfrm>
          <a:prstGeom prst="roundRect">
            <a:avLst>
              <a:gd name="adj" fmla="val 4000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5292" y="2560320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8" name="Text 16"/>
          <p:cNvSpPr/>
          <p:nvPr/>
        </p:nvSpPr>
        <p:spPr>
          <a:xfrm>
            <a:off x="5765292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48072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Beslissing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75504" y="3703320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Regels + AI, veilige default, 700ms-budget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50024" y="32004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232904" y="2286000"/>
            <a:ext cx="2057400" cy="2468880"/>
          </a:xfrm>
          <a:prstGeom prst="roundRect">
            <a:avLst>
              <a:gd name="adj" fmla="val 4000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87284" y="2560320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4" name="Text 22"/>
          <p:cNvSpPr/>
          <p:nvPr/>
        </p:nvSpPr>
        <p:spPr>
          <a:xfrm>
            <a:off x="7987284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70064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397496" y="3703320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proof, CTA, thema, formulier, e-mail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72016" y="32004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54896" y="2286000"/>
            <a:ext cx="2057400" cy="2468880"/>
          </a:xfrm>
          <a:prstGeom prst="roundRect">
            <a:avLst>
              <a:gd name="adj" fmla="val 4000"/>
            </a:avLst>
          </a:prstGeom>
          <a:solidFill>
            <a:srgbClr val="E4F5F1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09276" y="2560320"/>
            <a:ext cx="548640" cy="54864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30" name="Text 28"/>
          <p:cNvSpPr/>
          <p:nvPr/>
        </p:nvSpPr>
        <p:spPr>
          <a:xfrm>
            <a:off x="10209276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592056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619488" y="3703320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+ regel-vuringen + score-verdeling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6928" y="5074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beslissing draait binnen een hard tijdsbudget; overschrijdt hij dat, dan valt hij terug op de default — zichtbaar in de faalsignaal-laag.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 we het bouwden — technisch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276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99339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/ React 19 / TypeScript, Supabase (Postgres, EER-Ierland), gehost op Vercel Fluid.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6276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Beslis-engine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99339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Regels → experiment/holdout-split → optioneel AI, met een veilige default. p95 van de compute ≈ 0,08 ms.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90088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154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JS-snippet met progressive enhancement + 700ms-budget; ook WordPress-plugin en Statamic-add-on.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2990088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3154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Betrouwbaarheid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5204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cache met ownership-guard (0 cross-tenant lekken), fail-open schrijf-paden, instant rollback.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517136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6817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504748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Consent-gated verrijking, EER-opslag, meestuurbare verwerkersovereenkomst + subverwerkerslijst.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517136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46817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504748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Faalsignaal-laag (opslag/mail/decide) + regel-vuringen als dagteller (in-memory buffer, flush/min).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 we het bouwden — functioneel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bouwstenen die samen de adaptieve ervaring maken.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24328" cy="1463040"/>
          </a:xfrm>
          <a:prstGeom prst="roundRect">
            <a:avLst>
              <a:gd name="adj" fmla="val 562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60604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292608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signaal → dan variant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1828800"/>
            <a:ext cx="2624328" cy="1463040"/>
          </a:xfrm>
          <a:prstGeom prst="roundRect">
            <a:avLst>
              <a:gd name="adj" fmla="val 562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76472" y="2084832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377647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76472" y="260604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&amp; varianten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76472" y="292608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per slot &amp; formulier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624328" cy="1463040"/>
          </a:xfrm>
          <a:prstGeom prst="roundRect">
            <a:avLst>
              <a:gd name="adj" fmla="val 562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56832" y="2084832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6" name="Text 14"/>
          <p:cNvSpPr/>
          <p:nvPr/>
        </p:nvSpPr>
        <p:spPr>
          <a:xfrm>
            <a:off x="665683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56832" y="260604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segmenten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56832" y="292608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Interesse, intent, sequences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81160" y="1828800"/>
            <a:ext cx="2624328" cy="1463040"/>
          </a:xfrm>
          <a:prstGeom prst="roundRect">
            <a:avLst>
              <a:gd name="adj" fmla="val 562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37192" y="2084832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1" name="Text 19"/>
          <p:cNvSpPr/>
          <p:nvPr/>
        </p:nvSpPr>
        <p:spPr>
          <a:xfrm>
            <a:off x="953719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37192" y="260604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Verrijking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537192" y="292608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IP→bedrijf, geo, CRM (consent)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547872"/>
            <a:ext cx="2624328" cy="1463040"/>
          </a:xfrm>
          <a:prstGeom prst="roundRect">
            <a:avLst>
              <a:gd name="adj" fmla="val 562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" y="3803904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96112" y="432511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shadow → live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96112" y="464515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Variantkeuze + tekst-fill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520440" y="3547872"/>
            <a:ext cx="2624328" cy="1463040"/>
          </a:xfrm>
          <a:prstGeom prst="roundRect">
            <a:avLst>
              <a:gd name="adj" fmla="val 562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76472" y="3803904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31" name="Text 29"/>
          <p:cNvSpPr/>
          <p:nvPr/>
        </p:nvSpPr>
        <p:spPr>
          <a:xfrm>
            <a:off x="3776472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776472" y="432511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776472" y="464515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op planniveau + holdout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0" y="3547872"/>
            <a:ext cx="2624328" cy="1463040"/>
          </a:xfrm>
          <a:prstGeom prst="roundRect">
            <a:avLst>
              <a:gd name="adj" fmla="val 562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56832" y="3803904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36" name="Text 34"/>
          <p:cNvSpPr/>
          <p:nvPr/>
        </p:nvSpPr>
        <p:spPr>
          <a:xfrm>
            <a:off x="6656832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656832" y="432511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Adaptieve e-mail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656832" y="464515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Bevestiging past zich aan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281160" y="3547872"/>
            <a:ext cx="2624328" cy="1463040"/>
          </a:xfrm>
          <a:prstGeom prst="roundRect">
            <a:avLst>
              <a:gd name="adj" fmla="val 562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537192" y="3803904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41" name="Text 39"/>
          <p:cNvSpPr/>
          <p:nvPr/>
        </p:nvSpPr>
        <p:spPr>
          <a:xfrm>
            <a:off x="9537192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537192" y="432511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thema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537192" y="464515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+ regel-gedreven thema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Tabs — Personalisatie (de kern)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je bepaalt wat elke bezoeker krijgt, en ziet waarom.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6112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context, dan variant. Met score-verdeling en regel-vuringen als meet- en onderhoudsgereedschap.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4416552" y="1828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72584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blocks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72584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content-varianten zelf per slot (hero/proof/cta) en formulier. Optioneel AI-variant-generator.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8193024" y="1828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49056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49056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op planniveau: bucket 0 = plan, bucket 1 = plan + challenger. Hele, samenhangende journeys.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40080" y="3621024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AI-policy &amp; Field Fill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96112" y="412394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(meelopen, alleen loggen) of live (geserveerd bij genoeg vertrouwen, anders veilige terugval).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4416552" y="3621024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72584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&amp; AI-logs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72584" y="412394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inzicht: welke regel/variant, met welk vertrouwen, en waarom — in gewone taal.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8193024" y="3621024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49056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variables &amp; Variants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49056" y="412394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signalen regels mogen gebruiken; en een overzicht van variant-dekking en dode keys.</a:t>
            </a:r>
            <a:endParaRPr lang="en-US" sz="11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Tabs — Publiek &amp; leads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anonieme bezoeker naar herkende lead — met privacy als grondslag.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 &amp; Scoring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6112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Interesseprofielen, scoringsregels, sequences en decay bepalen score en segment per bezoeker.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4416552" y="1828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72584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72584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Doelgroepen die je hergebruikt in ABM, Lead Base en retargeting.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8193024" y="1828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49056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Base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49056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Profielregister anoniem → herkend → bekend → klant. Filteren, verwijderen (erasure), exporteren.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40080" y="3621024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accounts (ABM)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96112" y="412394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Persoonlijke links per doelaccount; bezoeker landt direct goed terwijl de site personaliseert.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4416552" y="3621024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72584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(Ad Sync)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72584" y="412394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Segmenten naar Google/Meta/LinkedIn, server-side gehasht, met consent-gate.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8193024" y="3621024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49056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49056" y="412394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visualisatie van de sessie-journey — sterk in een strategiegesprek.</a:t>
            </a:r>
            <a:endParaRPr lang="en-US" sz="11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Tabs — Content, design, integraties &amp; setup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rest van het platform: content, vorm, koppelingen en go-live.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6112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CMS-first: status, 'Open in CMS', formulierafhandeling, assets, blueprints, adaptieve e-mail (preview).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4416552" y="1828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72584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Theme switching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72584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typografie en preset-thema's; een regel koppelt een thema aan de bezoeker.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8193024" y="1828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49056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49056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CMS, CRM (HubSpot), AI-mode, enrichment (MaxMind), domeinen — secrets nooit zichtbaar.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40080" y="3621024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96112" y="412394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Één &lt;script&gt; in de &lt;head&gt; + de data-mc-slot-conventie maakt een bestaande site adaptief.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4416552" y="3621024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72584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 Setup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72584" y="412394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aan/uit, retentietermijn, self-service-toggle, plan; en de go-live checklist + site aanmaken.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8193024" y="3621024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49056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Storage, Users, Debug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49056" y="412394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Meilisearch-reindex, asset-opslag, toegang, en de debug-overlay + faalsignaal-paneel.</a:t>
            </a:r>
            <a:endParaRPr lang="en-US" sz="11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Bewijs &amp; betrouwbaarheid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Meetbaar, snel en veilig — het deel dat een directeur overtuigt.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40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0,08 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van de beslis-compute (2 tenants, benchmark)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47872" y="192024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47872" y="2240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730752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 lekken over 50.000 paren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55664" y="192024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5664" y="2240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~€2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638544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marginale infrakosten per klant per maand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63456" y="192024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63456" y="2240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dgn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546336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rollende bewaartermijn bezoekersprofielen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per-tenant nood-schakelaar (terug naar standaard zonder deploy), instant rollback, en holdout die bewijst of personalisatie werkt.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0FA3A3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5138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55595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of het uitmaakt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80560" y="493776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0FA3A3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5138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Score-verdeling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9160" y="55595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onderscheidt de invoer?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21040" y="493776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0FA3A3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49640" y="5138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Regel-vuringen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49640" y="55595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doen de regels iets?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als onderscheid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de Amerikaanse platformen data uit handen geven, houden wij het in de EER.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33272"/>
          </a:xfrm>
          <a:prstGeom prst="roundRect">
            <a:avLst>
              <a:gd name="adj" fmla="val 796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475488" cy="47548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92938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de EER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892808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West-Europa (Ierland). Bevestigd, en vastgelegd in de subverwerkerslijst.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10881360" cy="1033272"/>
          </a:xfrm>
          <a:prstGeom prst="roundRect">
            <a:avLst>
              <a:gd name="adj" fmla="val 796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227832"/>
            <a:ext cx="475488" cy="47548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27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309981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Consent-gated verrijking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30632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Firmografie wordt alleen bewaard bij enrichment-toestemming; gedrag bij personalisatie-toestemming.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23944"/>
            <a:ext cx="10881360" cy="1033272"/>
          </a:xfrm>
          <a:prstGeom prst="roundRect">
            <a:avLst>
              <a:gd name="adj" fmla="val 796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398264"/>
            <a:ext cx="475488" cy="47548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98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427024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Meestuurbare DPB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423367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Verwerkersovereenkomst + subverwerkerslijst + grondslag-onderbouwing klaar om mee te sturen.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294376"/>
            <a:ext cx="10881360" cy="1033272"/>
          </a:xfrm>
          <a:prstGeom prst="roundRect">
            <a:avLst>
              <a:gd name="adj" fmla="val 796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568696"/>
            <a:ext cx="475488" cy="47548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568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45920" y="5440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Instelbare retentie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0" y="5404104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Standaard 30 dagen na opzegging, per tenant aanpasbaar met ingangsdatum; profielen 90 dagen rollend.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Concept-documenten — juridisch te toetsen vóór gebruik.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Één verhaal, één bedrag — de klant koopt jouw werk, geen volume.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84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€4.000 – 6.000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eenmalig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Segmenten, varianten, regels, holdout en meetopzet. Lager als het op een positioneringstraject aansluit.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182880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E4F5F1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90872" y="2084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Maandelijks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0872" y="25146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€1.500 – 2.500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690872" y="3200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maand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90872" y="36118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€1.500 is normaal: bewaking + kwartaalgesprek + samenhang bewaken. €2.500 bij meerdere contexten of sites — meer regels bijstellen, meer meetmomenten. Geen productie per campagne.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93024" y="182880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67344" y="2084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67344" y="25146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€700 – 900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467344" y="3200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maanden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67344" y="36118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Gereduceerde setup, met de einddatum én het vervolgtarief nu al vastgelegd — dat laatste is het belangrijkste.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Nieuwe blokken, sitewijziging of herijkte segmentatie = projectwerk, apart geoffreerd. Geen afrekening per sessie.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 ziet een maand eruit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 en bewust traag: bijsturen en bewaken, geen productie per campagne.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24328" cy="2286000"/>
          </a:xfrm>
          <a:prstGeom prst="roundRect">
            <a:avLst>
              <a:gd name="adj" fmla="val 3600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475488" cy="47548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69748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Lezen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324612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regels vuurden, welke varianten kregen verkeer, welke stonden er nutteloos bij. Een half uur zodra de panelen er zijn.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1828800"/>
            <a:ext cx="2624328" cy="2286000"/>
          </a:xfrm>
          <a:prstGeom prst="roundRect">
            <a:avLst>
              <a:gd name="adj" fmla="val 3600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76472" y="2084832"/>
            <a:ext cx="475488" cy="47548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3776472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76472" y="269748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Bijsturen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76472" y="324612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Zwakke variant vervangen door een betere formulering van dezelfde boodschap — tweaken, geen ombouw. Dode regel weg, te klein segment samenvoegen.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624328" cy="2286000"/>
          </a:xfrm>
          <a:prstGeom prst="roundRect">
            <a:avLst>
              <a:gd name="adj" fmla="val 3600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56832" y="2084832"/>
            <a:ext cx="475488" cy="47548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6" name="Text 14"/>
          <p:cNvSpPr/>
          <p:nvPr/>
        </p:nvSpPr>
        <p:spPr>
          <a:xfrm>
            <a:off x="6656832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56832" y="269748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= een regel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56832" y="324612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welke tekst, maar welke bestaande variant dit publiek krijgt. Minuten werk op de conditielaag. Daarna: landde het publiek in het bedoelde segment?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81160" y="1828800"/>
            <a:ext cx="2624328" cy="2286000"/>
          </a:xfrm>
          <a:prstGeom prst="roundRect">
            <a:avLst>
              <a:gd name="adj" fmla="val 3600"/>
            </a:avLst>
          </a:prstGeom>
          <a:solidFill>
            <a:srgbClr val="E4F5F1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37192" y="2084832"/>
            <a:ext cx="475488" cy="47548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/>
          <p:nvPr/>
        </p:nvSpPr>
        <p:spPr>
          <a:xfrm>
            <a:off x="9537192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37192" y="269748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Bewaken + kwartaal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537192" y="324612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Faalsignalen groen, inzendingen binnen — iemands taak, wekelijks. Per kwartaal: wat leverde de holdout op, wat is aangepast en waarom, wat proberen we?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12414E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43484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geen enkele variant de campagneboodschap dragen?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een signaal, geen bouwtaak: de campagne drijft af van de propositie, óf er is echt een nieuw segment. Beide is een gesprek — het instrument is zo een rem op campagnedrift.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Varianten komen er alleen op vaste momenten bij (bijv. per kwartaal), nooit als reactie op één campagne.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Denk in kwartalen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instrument heeft tijd nodig. Zet de verwachting vooraf: Q1 is inrichten en leren, niet oogsten.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24328" cy="2377440"/>
          </a:xfrm>
          <a:prstGeom prst="roundRect">
            <a:avLst>
              <a:gd name="adj" fmla="val 3462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20824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208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26243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Inrichting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154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7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Segmenten, varianten, regels, holdout, koppeling, meetopzet. 2–3 weken · €4–6k eenmalig.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3520440" y="1783080"/>
            <a:ext cx="2624328" cy="2377440"/>
          </a:xfrm>
          <a:prstGeom prst="roundRect">
            <a:avLst>
              <a:gd name="adj" fmla="val 3462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76472" y="2020824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3776472" y="20208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76472" y="26243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loopt, je weet nog niets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76472" y="3154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7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Bijstellen: drempels te ruim/krap, lege segmenten, te brede condities. Eerste campagne = eerste toets. Uitkomst: klopt de verkeersverdeling? Nog geen effect.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2624328" cy="2377440"/>
          </a:xfrm>
          <a:prstGeom prst="roundRect">
            <a:avLst>
              <a:gd name="adj" fmla="val 3462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56832" y="2020824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0FA3A3"/>
          </a:solidFill>
          <a:ln/>
        </p:spPr>
      </p:sp>
      <p:sp>
        <p:nvSpPr>
          <p:cNvPr id="16" name="Text 14"/>
          <p:cNvSpPr/>
          <p:nvPr/>
        </p:nvSpPr>
        <p:spPr>
          <a:xfrm>
            <a:off x="6656832" y="20208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56832" y="26243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Halfjaarpunt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56832" y="3154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7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Zwakke varianten eruit; holdout geeft richting, nog geen cijfer. Eerlijk: bij weinig B2B-verkeer is een half jaar vaak te kort voor een hard antwoord.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9281160" y="1783080"/>
            <a:ext cx="2624328" cy="2377440"/>
          </a:xfrm>
          <a:prstGeom prst="roundRect">
            <a:avLst>
              <a:gd name="adj" fmla="val 3462"/>
            </a:avLst>
          </a:prstGeom>
          <a:solidFill>
            <a:srgbClr val="E4F5F1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37192" y="2020824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7C3B2"/>
          </a:solidFill>
          <a:ln/>
        </p:spPr>
      </p:sp>
      <p:sp>
        <p:nvSpPr>
          <p:cNvPr id="21" name="Text 19"/>
          <p:cNvSpPr/>
          <p:nvPr/>
        </p:nvSpPr>
        <p:spPr>
          <a:xfrm>
            <a:off x="9537192" y="20208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Q3–4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37192" y="26243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rendement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537192" y="3154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7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Segmentatie gecorrigeerd, zwakke varianten weg, holdout genoeg gedraaid. Jaargesprek: wat deed het, wat nu nog winnen.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10881360" cy="1005840"/>
          </a:xfrm>
          <a:prstGeom prst="roundRect">
            <a:avLst>
              <a:gd name="adj" fmla="val 8182"/>
            </a:avLst>
          </a:prstGeom>
          <a:solidFill>
            <a:srgbClr val="0E2A38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Verkoop geen half jaar.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eindigt precies waar je nog geen antwoord hebt. Verkoop een jaar met een uitstapmoment na zes maanden — dat verlaagt de drempel én geeft het instrument de tijd die het nodig heeft.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(setup + retainer): half jaar ≈ €13–20k · jaar ≈ €22–35k, afhankelijk van het maandtarief.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bezoekers, één site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68680" y="42976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een persona in het Scenario Control Panel, ververs, en benoem wat er verandert. Volledig draaiboek: docs/demo-draaiboek.md.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0"/>
            <a:ext cx="2606040" cy="1188720"/>
          </a:xfrm>
          <a:prstGeom prst="roundRect">
            <a:avLst>
              <a:gd name="adj" fmla="val 6923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5257800"/>
            <a:ext cx="457200" cy="45720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5212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Inkoper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5742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zakelijke volgorde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47872" y="5029200"/>
            <a:ext cx="2606040" cy="1188720"/>
          </a:xfrm>
          <a:prstGeom prst="roundRect">
            <a:avLst>
              <a:gd name="adj" fmla="val 6923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76472" y="5257800"/>
            <a:ext cx="457200" cy="45720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2" name="Text 10"/>
          <p:cNvSpPr/>
          <p:nvPr/>
        </p:nvSpPr>
        <p:spPr>
          <a:xfrm>
            <a:off x="3776472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70832" y="5212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Sollicitant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03904" y="5742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vacature leidt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2784" y="5029200"/>
            <a:ext cx="2606040" cy="1188720"/>
          </a:xfrm>
          <a:prstGeom prst="roundRect">
            <a:avLst>
              <a:gd name="adj" fmla="val 6923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01384" y="5257800"/>
            <a:ext cx="457200" cy="45720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/>
          <p:nvPr/>
        </p:nvSpPr>
        <p:spPr>
          <a:xfrm>
            <a:off x="6501384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95744" y="5212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Bekende klant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28816" y="5742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retentie i.p.v. acquisitie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97696" y="5029200"/>
            <a:ext cx="2606040" cy="1188720"/>
          </a:xfrm>
          <a:prstGeom prst="roundRect">
            <a:avLst>
              <a:gd name="adj" fmla="val 6923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26296" y="5257800"/>
            <a:ext cx="457200" cy="45720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2" name="Text 20"/>
          <p:cNvSpPr/>
          <p:nvPr/>
        </p:nvSpPr>
        <p:spPr>
          <a:xfrm>
            <a:off x="9226296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20656" y="5212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53728" y="5742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= advertentie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931920"/>
            <a:ext cx="4023360" cy="4023360"/>
          </a:xfrm>
          <a:prstGeom prst="ellipse">
            <a:avLst/>
          </a:prstGeom>
          <a:solidFill>
            <a:srgbClr val="0FA3A3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soorten klanten, één website 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we kunnen meten dat het uitmaakt.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41248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stap: één klantgesprek, live op hun eigen site.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Mister Chameleon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2026-08-02T16:00:41Z</dcterms:created>
  <dcterms:modified xsi:type="dcterms:W3CDTF">2026-08-02T16:00:41Z</dcterms:modified>
</cp:coreProperties>
</file>